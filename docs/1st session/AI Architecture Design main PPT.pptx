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Nunito"/>
      <p:regular r:id="rId42"/>
      <p:bold r:id="rId43"/>
      <p:italic r:id="rId44"/>
      <p:boldItalic r:id="rId45"/>
    </p:embeddedFont>
    <p:embeddedFont>
      <p:font typeface="Inter"/>
      <p:regular r:id="rId46"/>
      <p:bold r:id="rId47"/>
      <p:italic r:id="rId48"/>
      <p:boldItalic r:id="rId49"/>
    </p:embeddedFont>
    <p:embeddedFont>
      <p:font typeface="Maven Pro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2" roundtripDataSignature="AMtx7mgJ3DnRP2W70P48gC7iajjZ81YG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Nunito-regular.fntdata"/><Relationship Id="rId41" Type="http://schemas.openxmlformats.org/officeDocument/2006/relationships/slide" Target="slides/slide36.xml"/><Relationship Id="rId44" Type="http://schemas.openxmlformats.org/officeDocument/2006/relationships/font" Target="fonts/Nunito-italic.fntdata"/><Relationship Id="rId43" Type="http://schemas.openxmlformats.org/officeDocument/2006/relationships/font" Target="fonts/Nunito-bold.fntdata"/><Relationship Id="rId46" Type="http://schemas.openxmlformats.org/officeDocument/2006/relationships/font" Target="fonts/Inter-regular.fntdata"/><Relationship Id="rId45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-italic.fntdata"/><Relationship Id="rId47" Type="http://schemas.openxmlformats.org/officeDocument/2006/relationships/font" Target="fonts/Inter-bold.fntdata"/><Relationship Id="rId49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avenPro-bold.fntdata"/><Relationship Id="rId50" Type="http://schemas.openxmlformats.org/officeDocument/2006/relationships/font" Target="fonts/MavenPro-regular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5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p15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16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p17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8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38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2" name="Google Shape;12;p38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38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p38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38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38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38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38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38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38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38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38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38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38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38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38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38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38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38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38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8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38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38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38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38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p38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38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38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38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p38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8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8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8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8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8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38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38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3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51" name="Google Shape;51;p3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3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3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40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58" name="Google Shape;58;p40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59" name="Google Shape;59;p4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4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40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" name="Google Shape;62;p40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63" name="Google Shape;63;p40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4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4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" name="Google Shape;66;p40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67" name="Google Shape;67;p4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4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9" name="Google Shape;69;p40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4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1"/>
          <p:cNvSpPr txBox="1"/>
          <p:nvPr>
            <p:ph type="title"/>
          </p:nvPr>
        </p:nvSpPr>
        <p:spPr>
          <a:xfrm>
            <a:off x="326551" y="96329"/>
            <a:ext cx="849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" type="body"/>
          </p:nvPr>
        </p:nvSpPr>
        <p:spPr>
          <a:xfrm>
            <a:off x="326551" y="979619"/>
            <a:ext cx="8490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1" type="ftr"/>
          </p:nvPr>
        </p:nvSpPr>
        <p:spPr>
          <a:xfrm>
            <a:off x="3102236" y="4734826"/>
            <a:ext cx="29388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41"/>
          <p:cNvSpPr txBox="1"/>
          <p:nvPr>
            <p:ph idx="12" type="sldNum"/>
          </p:nvPr>
        </p:nvSpPr>
        <p:spPr>
          <a:xfrm>
            <a:off x="6694299" y="4734826"/>
            <a:ext cx="21222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" name="Google Shape;76;p41"/>
          <p:cNvSpPr txBox="1"/>
          <p:nvPr>
            <p:ph idx="10" type="dt"/>
          </p:nvPr>
        </p:nvSpPr>
        <p:spPr>
          <a:xfrm>
            <a:off x="326551" y="4734826"/>
            <a:ext cx="21222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42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79" name="Google Shape;79;p42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80" name="Google Shape;80;p42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42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42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83" name="Google Shape;83;p42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42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42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86;p42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87" name="Google Shape;87;p42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42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2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42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1" name="Google Shape;91;p42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92" name="Google Shape;92;p42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93" name="Google Shape;93;p42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42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42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96" name="Google Shape;96;p42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42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42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42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00" name="Google Shape;100;p42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42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42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42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" name="Google Shape;104;p42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05" name="Google Shape;105;p42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42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42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42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42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0" name="Google Shape;110;p4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4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4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14" name="Google Shape;114;p4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4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43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43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4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4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2" name="Google Shape;122;p4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4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4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4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8" name="Google Shape;128;p4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45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" name="Google Shape;131;p45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2" name="Google Shape;132;p4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4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5" name="Google Shape;135;p4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46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46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9" name="Google Shape;139;p46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0" name="Google Shape;140;p4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47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43" name="Google Shape;143;p4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47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6" name="Google Shape;146;p4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48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9" name="Google Shape;149;p48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50" name="Google Shape;150;p4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4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" name="Google Shape;154;p48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5" name="Google Shape;155;p4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4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4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48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4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" name="Google Shape;160;p48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61" name="Google Shape;161;p4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4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4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48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6" name="Google Shape;166;p4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4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48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70" name="Google Shape;170;p48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48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8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48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48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5" name="Google Shape;175;p48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6" name="Google Shape;176;p48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48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48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8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48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81" name="Google Shape;181;p48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48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48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" name="Google Shape;184;p48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5" name="Google Shape;185;p48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48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48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48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48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48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91" name="Google Shape;191;p48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48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48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48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48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6" name="Google Shape;196;p48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8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8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48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48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201" name="Google Shape;201;p48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48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48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4" name="Google Shape;204;p48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5" name="Google Shape;205;p48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48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48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48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9" name="Google Shape;209;p48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10" name="Google Shape;210;p48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48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48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48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214;p48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5" name="Google Shape;215;p48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48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48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48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48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0" name="Google Shape;220;p48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21" name="Google Shape;221;p48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48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48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48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5" name="Google Shape;225;p48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6" name="Google Shape;226;p48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48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48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" name="Google Shape;229;p48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30" name="Google Shape;230;p48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48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48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48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48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5" name="Google Shape;235;p48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48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48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48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48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0" name="Google Shape;240;p48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41" name="Google Shape;241;p48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48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48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48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48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6" name="Google Shape;246;p48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48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48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48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50" name="Google Shape;250;p48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48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48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48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48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5" name="Google Shape;255;p48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6" name="Google Shape;256;p48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48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48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48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0" name="Google Shape;260;p48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61" name="Google Shape;261;p48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48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48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48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p48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6" name="Google Shape;266;p48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48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48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9" name="Google Shape;269;p48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70" name="Google Shape;270;p48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48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48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48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4" name="Google Shape;274;p48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48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4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9pPr>
          </a:lstStyle>
          <a:p/>
        </p:txBody>
      </p:sp>
      <p:sp>
        <p:nvSpPr>
          <p:cNvPr id="281" name="Google Shape;281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5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5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" name="Google Shape;284;p50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Autofit/>
          </a:bodyPr>
          <a:lstStyle>
            <a:lvl1pPr indent="-3111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" name="Google Shape;287;p5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5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5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5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5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5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aw.io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"/>
          <p:cNvSpPr/>
          <p:nvPr/>
        </p:nvSpPr>
        <p:spPr>
          <a:xfrm rot="5400000">
            <a:off x="8444560" y="1045084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98" name="Google Shape;298;p1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1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1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AI Architecture Design</a:t>
            </a:r>
            <a:endParaRPr/>
          </a:p>
        </p:txBody>
      </p:sp>
      <p:sp>
        <p:nvSpPr>
          <p:cNvPr id="302" name="Google Shape;302;p1"/>
          <p:cNvSpPr txBox="1"/>
          <p:nvPr>
            <p:ph idx="1" type="subTitle"/>
          </p:nvPr>
        </p:nvSpPr>
        <p:spPr>
          <a:xfrm>
            <a:off x="824000" y="3596300"/>
            <a:ext cx="78723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AI Architecture Design Course, for AI, ML and software engineers on designing production-grade AI systems: LLM, RAG and agent architectures, security, governance and evaluation, with enterprise case studies.</a:t>
            </a:r>
            <a:endParaRPr/>
          </a:p>
        </p:txBody>
      </p:sp>
      <p:sp>
        <p:nvSpPr>
          <p:cNvPr id="303" name="Google Shape;303;p1"/>
          <p:cNvSpPr txBox="1"/>
          <p:nvPr/>
        </p:nvSpPr>
        <p:spPr>
          <a:xfrm>
            <a:off x="824000" y="820000"/>
            <a:ext cx="6000000" cy="7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COURSE INSTRUCTOR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Eng. Sameh Amin</a:t>
            </a:r>
            <a:endParaRPr/>
          </a:p>
        </p:txBody>
      </p:sp>
      <p:sp>
        <p:nvSpPr>
          <p:cNvPr id="304" name="Google Shape;304;p1"/>
          <p:cNvSpPr txBox="1"/>
          <p:nvPr/>
        </p:nvSpPr>
        <p:spPr>
          <a:xfrm>
            <a:off x="824000" y="4760000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Unifonic  |  MLOps MENA</a:t>
            </a:r>
            <a:endParaRPr/>
          </a:p>
        </p:txBody>
      </p:sp>
      <p:sp>
        <p:nvSpPr>
          <p:cNvPr id="305" name="Google Shape;305;p1"/>
          <p:cNvSpPr txBox="1"/>
          <p:nvPr/>
        </p:nvSpPr>
        <p:spPr>
          <a:xfrm>
            <a:off x="4629750" y="476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18th October 2026</a:t>
            </a:r>
            <a:endParaRPr/>
          </a:p>
        </p:txBody>
      </p:sp>
      <p:sp>
        <p:nvSpPr>
          <p:cNvPr id="306" name="Google Shape;306;p1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  <p:sp>
        <p:nvSpPr>
          <p:cNvPr id="307" name="Google Shape;307;p1"/>
          <p:cNvSpPr/>
          <p:nvPr/>
        </p:nvSpPr>
        <p:spPr>
          <a:xfrm>
            <a:off x="8460138" y="30000"/>
            <a:ext cx="396862" cy="230000"/>
          </a:xfrm>
          <a:prstGeom prst="roundRect">
            <a:avLst>
              <a:gd fmla="val 3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LOps MENA logo" id="308" name="Google Shape;3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8339" y="1310025"/>
            <a:ext cx="1347365" cy="76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LOps MENA logo" id="309" name="Google Shape;3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129082">
            <a:off x="8460494" y="33275"/>
            <a:ext cx="396149" cy="2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15" name="Google Shape;315;p2"/>
          <p:cNvSpPr txBox="1"/>
          <p:nvPr>
            <p:ph idx="1" type="body"/>
          </p:nvPr>
        </p:nvSpPr>
        <p:spPr>
          <a:xfrm>
            <a:off x="1303800" y="1724300"/>
            <a:ext cx="7030500" cy="3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/>
              <a:t>1. Architecture Views, Steps and Process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600"/>
              <a:t>2. AI System Building Blocks (data pipelines, training, fine-tuning, …)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600"/>
              <a:t>3. LLM &amp; RAG Architecture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600"/>
              <a:t>4. Agentic AI Architecture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600"/>
              <a:t>5. Production Readiness (Security, Governance, Evals)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600"/>
              <a:t>6. Enterprise Case Studies</a:t>
            </a:r>
            <a:endParaRPr sz="1600"/>
          </a:p>
        </p:txBody>
      </p:sp>
      <p:pic>
        <p:nvPicPr>
          <p:cNvPr descr="MLOps MENA logo" id="316" name="Google Shape;3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this course is</a:t>
            </a:r>
            <a:endParaRPr/>
          </a:p>
        </p:txBody>
      </p:sp>
      <p:sp>
        <p:nvSpPr>
          <p:cNvPr id="323" name="Google Shape;323;p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General architecture method, applied to AI systems.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AI design best practices.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Practical sessions with enterprise case studies (telecom, e-commerce, government) for each session.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Paying attention to functional and non-functional quality attributes, to be ready for production.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Target audience: Senior Engineers from any specialization (BE, FE, AI, …), EMs, TLs, up to CTOs, semi-technical people, PMs and similar.</a:t>
            </a:r>
            <a:endParaRPr/>
          </a:p>
        </p:txBody>
      </p:sp>
      <p:pic>
        <p:nvPicPr>
          <p:cNvPr descr="MLOps MENA logo" id="324" name="Google Shape;3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this course is not</a:t>
            </a:r>
            <a:endParaRPr/>
          </a:p>
        </p:txBody>
      </p:sp>
      <p:sp>
        <p:nvSpPr>
          <p:cNvPr id="331" name="Google Shape;331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It’s not a product/business ideas course, and not for business-only people.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course is not a machine learning or data science course.</a:t>
            </a:r>
            <a:endParaRPr/>
          </a:p>
        </p:txBody>
      </p:sp>
      <p:pic>
        <p:nvPicPr>
          <p:cNvPr descr="MLOps MENA logo" id="332" name="Google Shape;3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Course Setup &amp; Logistics</a:t>
            </a:r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UML tool: </a:t>
            </a:r>
            <a:r>
              <a:rPr lang="en" u="sng">
                <a:solidFill>
                  <a:schemeClr val="hlink"/>
                </a:solidFill>
                <a:hlinkClick r:id="rId3"/>
              </a:rPr>
              <a:t>Draw.io</a:t>
            </a:r>
            <a:r>
              <a:rPr lang="en"/>
              <a:t>, Mermaid, or paper!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Any OS.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Wiki tool: Confluence, Obsidian, MS Word, …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Agentic coding IDE (optional).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Excel (MS or libreoffice).</a:t>
            </a:r>
            <a:endParaRPr/>
          </a:p>
        </p:txBody>
      </p:sp>
      <p:pic>
        <p:nvPicPr>
          <p:cNvPr descr="MLOps MENA logo" id="340" name="Google Shape;3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Architect personality &amp; culture</a:t>
            </a:r>
            <a:endParaRPr/>
          </a:p>
        </p:txBody>
      </p:sp>
      <p:sp>
        <p:nvSpPr>
          <p:cNvPr id="347" name="Google Shape;347;p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Humble: puts the best solution ahead of his own idea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Curious: keeps learning new technologies and domains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Pragmatic: picks the simplest design that meets the requirements (mvp)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Technology agnostic: isolated from his preferred tech.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Trade-off thinker: no design is perfect, every choice has a cost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Strong communicator (viewpoints): explains the same design to engineers and executives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Collaborative: listens first, influences without authority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Accountable: owns decisions and their consequences (POC, Skeleton)</a:t>
            </a:r>
            <a:endParaRPr/>
          </a:p>
        </p:txBody>
      </p:sp>
      <p:pic>
        <p:nvPicPr>
          <p:cNvPr descr="MLOps MENA logo" id="348" name="Google Shape;3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6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The Project, The Business Requirements</a:t>
            </a:r>
            <a:endParaRPr/>
          </a:p>
        </p:txBody>
      </p:sp>
      <p:pic>
        <p:nvPicPr>
          <p:cNvPr descr="MLOps MENA logo" id="355" name="Google Shape;3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7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  <p:sp>
        <p:nvSpPr>
          <p:cNvPr id="357" name="Google Shape;357;p7"/>
          <p:cNvSpPr/>
          <p:nvPr/>
        </p:nvSpPr>
        <p:spPr>
          <a:xfrm>
            <a:off x="915425" y="4430000"/>
            <a:ext cx="731520" cy="5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Real-world project: Marketing Automation with AI &amp; Agents</a:t>
            </a:r>
            <a:endParaRPr/>
          </a:p>
        </p:txBody>
      </p:sp>
      <p:sp>
        <p:nvSpPr>
          <p:cNvPr id="363" name="Google Shape;363;p8"/>
          <p:cNvSpPr txBox="1"/>
          <p:nvPr>
            <p:ph idx="1" type="body"/>
          </p:nvPr>
        </p:nvSpPr>
        <p:spPr>
          <a:xfrm>
            <a:off x="1303800" y="1729225"/>
            <a:ext cx="7030500" cy="29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65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●"/>
            </a:pPr>
            <a:r>
              <a:rPr lang="en" sz="1400"/>
              <a:t>Functional use cases</a:t>
            </a:r>
            <a:endParaRPr sz="1200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00"/>
              <a:t>Homepage / Products page Personalization. (feature stores).</a:t>
            </a:r>
            <a:endParaRPr sz="1200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00"/>
              <a:t>Next-best action.</a:t>
            </a:r>
            <a:endParaRPr sz="1200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00"/>
              <a:t>New users (cold start).</a:t>
            </a:r>
            <a:endParaRPr sz="1200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00"/>
              <a:t>Agentic Marketing - Campaign Automation.</a:t>
            </a:r>
            <a:endParaRPr sz="1200"/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●"/>
            </a:pPr>
            <a:r>
              <a:rPr lang="en" sz="1200"/>
              <a:t>KPIs / Objectives (L2 connected to goals)</a:t>
            </a:r>
            <a:endParaRPr sz="1200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00"/>
              <a:t>Increase the sales take-rate by 80%.</a:t>
            </a:r>
            <a:endParaRPr sz="1200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00"/>
              <a:t>Increase CSAT to 70%.</a:t>
            </a:r>
            <a:endParaRPr sz="1200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00"/>
              <a:t>Feedback loop.</a:t>
            </a:r>
            <a:endParaRPr sz="1200"/>
          </a:p>
          <a:p>
            <a:pPr indent="-31765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●"/>
            </a:pPr>
            <a:r>
              <a:rPr lang="en" sz="1400"/>
              <a:t>Non-functional use cases</a:t>
            </a:r>
            <a:endParaRPr sz="1400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00"/>
              <a:t>Latency (real-time, near real-time, batch).</a:t>
            </a:r>
            <a:endParaRPr sz="1200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00"/>
              <a:t>Scalability (number of users, peak campaigns).</a:t>
            </a:r>
            <a:endParaRPr sz="1200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00"/>
              <a:t>Explainability and business control.</a:t>
            </a:r>
            <a:endParaRPr sz="1200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00"/>
              <a:t>Security &amp; Compliance requirements? Privacy (PDPL)?</a:t>
            </a:r>
            <a:endParaRPr sz="1200"/>
          </a:p>
        </p:txBody>
      </p:sp>
      <p:pic>
        <p:nvPicPr>
          <p:cNvPr descr="MLOps MENA logo" id="364" name="Google Shape;3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8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Business Requirements</a:t>
            </a:r>
            <a:endParaRPr/>
          </a:p>
        </p:txBody>
      </p:sp>
      <p:sp>
        <p:nvSpPr>
          <p:cNvPr id="371" name="Google Shape;371;p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Stakeholders / Personas?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Use cases assessment (the planning call).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Should you provide the timelines now? Ready for implementation vs spikes.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Should we stop the AD till all spikes completed?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Closing the gaps, questions and inquiries (1–n rounds).</a:t>
            </a:r>
            <a:endParaRPr/>
          </a:p>
        </p:txBody>
      </p:sp>
      <p:pic>
        <p:nvPicPr>
          <p:cNvPr descr="MLOps MENA logo" id="372" name="Google Shape;3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Architecture Views, Steps and Process</a:t>
            </a:r>
            <a:endParaRPr/>
          </a:p>
        </p:txBody>
      </p:sp>
      <p:pic>
        <p:nvPicPr>
          <p:cNvPr descr="MLOps MENA logo" id="379" name="Google Shape;3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0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915425" y="4430000"/>
            <a:ext cx="731520" cy="5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Architecture Frameworks (TOGAF)</a:t>
            </a:r>
            <a:endParaRPr/>
          </a:p>
        </p:txBody>
      </p:sp>
      <p:pic>
        <p:nvPicPr>
          <p:cNvPr id="387" name="Google Shape;3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800" y="1387325"/>
            <a:ext cx="6452175" cy="361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LOps MENA logo" id="388" name="Google Shape;3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1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Architecture Frameworks (Zachman)</a:t>
            </a:r>
            <a:endParaRPr/>
          </a:p>
        </p:txBody>
      </p:sp>
      <p:sp>
        <p:nvSpPr>
          <p:cNvPr id="395" name="Google Shape;395;p1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Focuses on what to create and deliver.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Maps six fundamental questions (what, how, where, who, when, and why) to six perspectives (planner, owner, designer, builder, implementer, and user).</a:t>
            </a:r>
            <a:endParaRPr/>
          </a:p>
        </p:txBody>
      </p:sp>
      <p:pic>
        <p:nvPicPr>
          <p:cNvPr descr="MLOps MENA logo" id="396" name="Google Shape;3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2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404" name="Google Shape;4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161" y="0"/>
            <a:ext cx="812367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LOps MENA logo" id="405" name="Google Shape;4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3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C4 Framework</a:t>
            </a:r>
            <a:endParaRPr/>
          </a:p>
        </p:txBody>
      </p:sp>
      <p:sp>
        <p:nvSpPr>
          <p:cNvPr id="412" name="Google Shape;412;p14"/>
          <p:cNvSpPr txBox="1"/>
          <p:nvPr>
            <p:ph idx="1" type="body"/>
          </p:nvPr>
        </p:nvSpPr>
        <p:spPr>
          <a:xfrm>
            <a:off x="1303800" y="1783080"/>
            <a:ext cx="3429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By Simon Brown: “maps of your code”.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Four zoom levels, big picture to code.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One level per audience: execs to devs.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Notation-free: boxes, lines, labels.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Extra views: landscape, dynamic, deployment.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Tools: Structurizr, Mermaid, draw.io.</a:t>
            </a:r>
            <a:endParaRPr sz="1400"/>
          </a:p>
        </p:txBody>
      </p:sp>
      <p:sp>
        <p:nvSpPr>
          <p:cNvPr id="413" name="Google Shape;413;p14"/>
          <p:cNvSpPr/>
          <p:nvPr/>
        </p:nvSpPr>
        <p:spPr>
          <a:xfrm>
            <a:off x="4937760" y="1783080"/>
            <a:ext cx="3657600" cy="6585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1. System Context</a:t>
            </a:r>
            <a:endParaRPr b="1" i="0" sz="14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People, the system, external systems</a:t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5120640" y="2551176"/>
            <a:ext cx="3291900" cy="658500"/>
          </a:xfrm>
          <a:prstGeom prst="roundRect">
            <a:avLst>
              <a:gd fmla="val 16667" name="adj"/>
            </a:avLst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2. Containers</a:t>
            </a:r>
            <a:endParaRPr b="1" i="0" sz="14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Apps, APIs, databases, queues</a:t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5303520" y="3319272"/>
            <a:ext cx="2926200" cy="6585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3. Components</a:t>
            </a:r>
            <a:endParaRPr b="1" i="0" sz="14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Modules inside one container</a:t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5486400" y="4087368"/>
            <a:ext cx="2560200" cy="658500"/>
          </a:xfrm>
          <a:prstGeom prst="roundRect">
            <a:avLst>
              <a:gd fmla="val 16667" name="adj"/>
            </a:avLst>
          </a:prstGeom>
          <a:solidFill>
            <a:srgbClr val="BDD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4. Code (optional)</a:t>
            </a:r>
            <a:endParaRPr b="1" i="0" sz="1400" u="none" cap="none" strike="noStrike">
              <a:solidFill>
                <a:srgbClr val="1F293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Classes, ERD, sequence</a:t>
            </a:r>
            <a:endParaRPr b="0" i="0" sz="1200" u="none" cap="none" strike="noStrike">
              <a:solidFill>
                <a:srgbClr val="1F293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MLOps MENA logo" id="417" name="Google Shape;4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4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5"/>
          <p:cNvSpPr txBox="1"/>
          <p:nvPr>
            <p:ph type="title"/>
          </p:nvPr>
        </p:nvSpPr>
        <p:spPr>
          <a:xfrm>
            <a:off x="326551" y="96329"/>
            <a:ext cx="79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rial"/>
              <a:buNone/>
            </a:pPr>
            <a:r>
              <a:rPr b="0" lang="en" strike="noStrike">
                <a:latin typeface="Arial"/>
                <a:ea typeface="Arial"/>
                <a:cs typeface="Arial"/>
                <a:sym typeface="Arial"/>
              </a:rPr>
              <a:t>Architecture development process</a:t>
            </a:r>
            <a:endParaRPr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78" y="622058"/>
            <a:ext cx="9043845" cy="4521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LOps MENA logo" id="425" name="Google Shape;4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5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"/>
          <p:cNvSpPr txBox="1"/>
          <p:nvPr>
            <p:ph type="title"/>
          </p:nvPr>
        </p:nvSpPr>
        <p:spPr>
          <a:xfrm>
            <a:off x="326551" y="96329"/>
            <a:ext cx="79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Arial"/>
              <a:buNone/>
            </a:pPr>
            <a:r>
              <a:rPr b="0" lang="en" strike="noStrike">
                <a:latin typeface="Arial"/>
                <a:ea typeface="Arial"/>
                <a:cs typeface="Arial"/>
                <a:sym typeface="Arial"/>
              </a:rPr>
              <a:t>Architectural Perspectives (Quality attributes)</a:t>
            </a:r>
            <a:endParaRPr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128" y="622058"/>
            <a:ext cx="5960984" cy="4521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LOps MENA logo" id="433" name="Google Shape;4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6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7"/>
          <p:cNvSpPr txBox="1"/>
          <p:nvPr>
            <p:ph type="title"/>
          </p:nvPr>
        </p:nvSpPr>
        <p:spPr>
          <a:xfrm>
            <a:off x="326551" y="96329"/>
            <a:ext cx="79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</a:pPr>
            <a:r>
              <a:rPr b="0" lang="en" strike="noStrike">
                <a:latin typeface="Arial"/>
                <a:ea typeface="Arial"/>
                <a:cs typeface="Arial"/>
                <a:sym typeface="Arial"/>
              </a:rPr>
              <a:t>Applying Perspectives to Views</a:t>
            </a:r>
            <a:endParaRPr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6240" y="701081"/>
            <a:ext cx="5598525" cy="44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LOps MENA logo" id="441" name="Google Shape;4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7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8"/>
          <p:cNvSpPr txBox="1"/>
          <p:nvPr>
            <p:ph type="title"/>
          </p:nvPr>
        </p:nvSpPr>
        <p:spPr>
          <a:xfrm>
            <a:off x="326551" y="96329"/>
            <a:ext cx="79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Architecture &amp; Agile</a:t>
            </a:r>
            <a:endParaRPr/>
          </a:p>
        </p:txBody>
      </p:sp>
      <p:sp>
        <p:nvSpPr>
          <p:cNvPr id="448" name="Google Shape;448;p18"/>
          <p:cNvSpPr txBox="1"/>
          <p:nvPr>
            <p:ph idx="1" type="body"/>
          </p:nvPr>
        </p:nvSpPr>
        <p:spPr>
          <a:xfrm>
            <a:off x="326551" y="979619"/>
            <a:ext cx="8490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Project level.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Epic level.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Story level.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Research/spike level.</a:t>
            </a:r>
            <a:endParaRPr/>
          </a:p>
        </p:txBody>
      </p:sp>
      <p:pic>
        <p:nvPicPr>
          <p:cNvPr descr="MLOps MENA logo" id="449" name="Google Shape;4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8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9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Architecture description</a:t>
            </a:r>
            <a:endParaRPr/>
          </a:p>
        </p:txBody>
      </p:sp>
      <p:pic>
        <p:nvPicPr>
          <p:cNvPr descr="MLOps MENA logo" id="456" name="Google Shape;4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9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  <p:sp>
        <p:nvSpPr>
          <p:cNvPr id="458" name="Google Shape;458;p19"/>
          <p:cNvSpPr/>
          <p:nvPr/>
        </p:nvSpPr>
        <p:spPr>
          <a:xfrm>
            <a:off x="915425" y="4430000"/>
            <a:ext cx="731520" cy="5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Architecture Intro and facts</a:t>
            </a:r>
            <a:endParaRPr/>
          </a:p>
        </p:txBody>
      </p:sp>
      <p:sp>
        <p:nvSpPr>
          <p:cNvPr id="464" name="Google Shape;464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Problem statement/pain points.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Goals/non-goals, Solution Assumptions.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As-is Architecture, Explore the Enterprise Architecture.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Architecture principles, key decisions and trade-offs.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Assessment.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Priorities.</a:t>
            </a:r>
            <a:endParaRPr/>
          </a:p>
        </p:txBody>
      </p:sp>
      <p:pic>
        <p:nvPicPr>
          <p:cNvPr descr="MLOps MENA logo" id="465" name="Google Shape;4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0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"/>
          <p:cNvSpPr txBox="1"/>
          <p:nvPr>
            <p:ph idx="1" type="body"/>
          </p:nvPr>
        </p:nvSpPr>
        <p:spPr>
          <a:xfrm>
            <a:off x="326551" y="979619"/>
            <a:ext cx="8490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Applying C1 - Context Viewpoint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Systems Boundaries.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Source systems and destination systems.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Components Breakdown.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Applying C2 view - Deployment viewpoint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Containers.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Nodes.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Ports and protocols.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Authentication/authorization.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Networking layer (inbound/outbound connections).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Capacity planning (Nodes, pods, DRs, CPUs, GPUs).</a:t>
            </a:r>
            <a:endParaRPr/>
          </a:p>
        </p:txBody>
      </p:sp>
      <p:sp>
        <p:nvSpPr>
          <p:cNvPr id="472" name="Google Shape;472;p21"/>
          <p:cNvSpPr txBox="1"/>
          <p:nvPr>
            <p:ph type="title"/>
          </p:nvPr>
        </p:nvSpPr>
        <p:spPr>
          <a:xfrm>
            <a:off x="326551" y="96329"/>
            <a:ext cx="79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High-Level Design</a:t>
            </a:r>
            <a:endParaRPr/>
          </a:p>
        </p:txBody>
      </p:sp>
      <p:pic>
        <p:nvPicPr>
          <p:cNvPr descr="MLOps MENA logo" id="473" name="Google Shape;4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1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"/>
          <p:cNvSpPr txBox="1"/>
          <p:nvPr>
            <p:ph idx="1" type="body"/>
          </p:nvPr>
        </p:nvSpPr>
        <p:spPr>
          <a:xfrm>
            <a:off x="326551" y="979619"/>
            <a:ext cx="8490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C2 view.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pipelines - data flows.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Messaging and queues.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velocity (real-time, near real-time, batch).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size (load/frequency).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quality: is any preprocessing required?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Retention policy/backups/replications.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sources and ownership (CRM, events, CDP, Data lakes/warehouses Vector DB, SQL DBs).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classification and privacy (PII, PDPL, consent).</a:t>
            </a:r>
            <a:endParaRPr/>
          </a:p>
        </p:txBody>
      </p:sp>
      <p:sp>
        <p:nvSpPr>
          <p:cNvPr id="480" name="Google Shape;480;p22"/>
          <p:cNvSpPr txBox="1"/>
          <p:nvPr>
            <p:ph type="title"/>
          </p:nvPr>
        </p:nvSpPr>
        <p:spPr>
          <a:xfrm>
            <a:off x="326551" y="96329"/>
            <a:ext cx="79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Information viewpoint / data pipelines</a:t>
            </a:r>
            <a:endParaRPr/>
          </a:p>
        </p:txBody>
      </p:sp>
      <p:pic>
        <p:nvPicPr>
          <p:cNvPr descr="MLOps MENA logo" id="481" name="Google Shape;4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2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3"/>
          <p:cNvSpPr txBox="1"/>
          <p:nvPr>
            <p:ph type="title"/>
          </p:nvPr>
        </p:nvSpPr>
        <p:spPr>
          <a:xfrm>
            <a:off x="326551" y="96329"/>
            <a:ext cx="79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Concurrency Viewpoint</a:t>
            </a:r>
            <a:endParaRPr/>
          </a:p>
        </p:txBody>
      </p:sp>
      <p:sp>
        <p:nvSpPr>
          <p:cNvPr id="488" name="Google Shape;488;p23"/>
          <p:cNvSpPr txBox="1"/>
          <p:nvPr>
            <p:ph idx="1" type="body"/>
          </p:nvPr>
        </p:nvSpPr>
        <p:spPr>
          <a:xfrm>
            <a:off x="326551" y="979619"/>
            <a:ext cx="8490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C2 view - Sequence diagram / use case.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Examples and questions to extract concurrency requirements and gaps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Processes, threads and workers mapped to containers.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Sync vs async interactions (API calls, events, queues).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Shared state and resources (locks, transactions, caching).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Parallelism and scaling (worker pools, partitions, autoscaling).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Rate limits (LLM/API quotas, throttling).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Timeouts, retries and failure handling (circuit breaker, DLQ [dead-letter queue]).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Scheduling and orchestration (cron, batch jobs, workflows).</a:t>
            </a:r>
            <a:endParaRPr/>
          </a:p>
        </p:txBody>
      </p:sp>
      <p:pic>
        <p:nvPicPr>
          <p:cNvPr descr="MLOps MENA logo" id="489" name="Google Shape;4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3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"/>
          <p:cNvSpPr txBox="1"/>
          <p:nvPr>
            <p:ph idx="1" type="body"/>
          </p:nvPr>
        </p:nvSpPr>
        <p:spPr>
          <a:xfrm>
            <a:off x="326551" y="979619"/>
            <a:ext cx="8490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Observability layer.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Grafana: resource utilization. 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Loki: logging aggregation.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Prometheus: Alerts and OpenTelemetry metrics.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Kibana: dashboard &amp; visualization, analytics.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MLOps layer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Langfuse: AI logging and evaluations.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MLflow: Model registry and lifecycle, experiment tracking, version control.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Airflow, Flink, Prefect: Data preprocessing, schedulers and transformation.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Model serving</a:t>
            </a:r>
            <a:endParaRPr/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KServe: Kubernetes-native model serving, autoscaling and canary rollouts.</a:t>
            </a:r>
            <a:endParaRPr/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BentoML: package models as APIs, easy containerized deployment.</a:t>
            </a:r>
            <a:endParaRPr/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vLLM: high-throughput LLM inference engine (PagedAttention, continuous batching).</a:t>
            </a:r>
            <a:endParaRPr/>
          </a:p>
        </p:txBody>
      </p:sp>
      <p:sp>
        <p:nvSpPr>
          <p:cNvPr id="496" name="Google Shape;496;p24"/>
          <p:cNvSpPr txBox="1"/>
          <p:nvPr>
            <p:ph type="title"/>
          </p:nvPr>
        </p:nvSpPr>
        <p:spPr>
          <a:xfrm>
            <a:off x="326551" y="96329"/>
            <a:ext cx="79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Operational viewpoint</a:t>
            </a:r>
            <a:endParaRPr/>
          </a:p>
        </p:txBody>
      </p:sp>
      <p:pic>
        <p:nvPicPr>
          <p:cNvPr descr="MLOps MENA logo" id="497" name="Google Shape;4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4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5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Architecture Governance</a:t>
            </a:r>
            <a:endParaRPr/>
          </a:p>
        </p:txBody>
      </p:sp>
      <p:pic>
        <p:nvPicPr>
          <p:cNvPr descr="MLOps MENA logo" id="504" name="Google Shape;5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915425" y="4430000"/>
            <a:ext cx="731520" cy="5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6"/>
          <p:cNvSpPr txBox="1"/>
          <p:nvPr>
            <p:ph type="title"/>
          </p:nvPr>
        </p:nvSpPr>
        <p:spPr>
          <a:xfrm>
            <a:off x="326551" y="96329"/>
            <a:ext cx="79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Architecture Governance key points</a:t>
            </a:r>
            <a:endParaRPr/>
          </a:p>
        </p:txBody>
      </p:sp>
      <p:sp>
        <p:nvSpPr>
          <p:cNvPr id="512" name="Google Shape;512;p26"/>
          <p:cNvSpPr txBox="1"/>
          <p:nvPr>
            <p:ph idx="1" type="body"/>
          </p:nvPr>
        </p:nvSpPr>
        <p:spPr>
          <a:xfrm>
            <a:off x="326551" y="979619"/>
            <a:ext cx="8490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Always connect and relate to business goals.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Principles and standards: approved technologies, patterns, reference architectures.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Architecture Review Board (ARB): reviews designs at key gates, approves exceptions.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Decision records (ADRs): context, options, trade-offs, owner.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Light-touch automation: guardrails over gates, automated checks in CI/CD (optional).</a:t>
            </a:r>
            <a:endParaRPr/>
          </a:p>
        </p:txBody>
      </p:sp>
      <p:pic>
        <p:nvPicPr>
          <p:cNvPr descr="MLOps MENA logo" id="513" name="Google Shape;51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6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Architecture &amp; Agentic Coding</a:t>
            </a:r>
            <a:endParaRPr/>
          </a:p>
        </p:txBody>
      </p:sp>
      <p:pic>
        <p:nvPicPr>
          <p:cNvPr descr="MLOps MENA logo" id="520" name="Google Shape;5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7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  <p:sp>
        <p:nvSpPr>
          <p:cNvPr id="522" name="Google Shape;522;p27"/>
          <p:cNvSpPr/>
          <p:nvPr/>
        </p:nvSpPr>
        <p:spPr>
          <a:xfrm>
            <a:off x="915425" y="4430000"/>
            <a:ext cx="731520" cy="5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8"/>
          <p:cNvSpPr txBox="1"/>
          <p:nvPr>
            <p:ph idx="1" type="body"/>
          </p:nvPr>
        </p:nvSpPr>
        <p:spPr>
          <a:xfrm>
            <a:off x="326551" y="979619"/>
            <a:ext cx="8490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Claude as an Architect.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Skills needed.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Swarm of agents.</a:t>
            </a:r>
            <a:endParaRPr/>
          </a:p>
        </p:txBody>
      </p:sp>
      <p:sp>
        <p:nvSpPr>
          <p:cNvPr id="528" name="Google Shape;528;p28"/>
          <p:cNvSpPr txBox="1"/>
          <p:nvPr>
            <p:ph type="title"/>
          </p:nvPr>
        </p:nvSpPr>
        <p:spPr>
          <a:xfrm>
            <a:off x="326551" y="96329"/>
            <a:ext cx="79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Agentic Architecture</a:t>
            </a:r>
            <a:endParaRPr/>
          </a:p>
        </p:txBody>
      </p:sp>
      <p:pic>
        <p:nvPicPr>
          <p:cNvPr descr="MLOps MENA logo" id="529" name="Google Shape;52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8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9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Assignment</a:t>
            </a:r>
            <a:endParaRPr/>
          </a:p>
        </p:txBody>
      </p:sp>
      <p:pic>
        <p:nvPicPr>
          <p:cNvPr descr="MLOps MENA logo" id="536" name="Google Shape;5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9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  <p:sp>
        <p:nvSpPr>
          <p:cNvPr id="538" name="Google Shape;538;p29"/>
          <p:cNvSpPr/>
          <p:nvPr/>
        </p:nvSpPr>
        <p:spPr>
          <a:xfrm>
            <a:off x="915425" y="4430000"/>
            <a:ext cx="731520" cy="5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1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AI System Building Blocks</a:t>
            </a:r>
            <a:endParaRPr/>
          </a:p>
        </p:txBody>
      </p:sp>
      <p:pic>
        <p:nvPicPr>
          <p:cNvPr descr="MLOps MENA logo" id="544" name="Google Shape;54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1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  <p:sp>
        <p:nvSpPr>
          <p:cNvPr id="546" name="Google Shape;546;p31"/>
          <p:cNvSpPr/>
          <p:nvPr/>
        </p:nvSpPr>
        <p:spPr>
          <a:xfrm>
            <a:off x="915425" y="4430000"/>
            <a:ext cx="731520" cy="5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AI System Building Blocks</a:t>
            </a:r>
            <a:endParaRPr/>
          </a:p>
        </p:txBody>
      </p:sp>
      <p:sp>
        <p:nvSpPr>
          <p:cNvPr id="552" name="Google Shape;552;p3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pipelines and feature stores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Model layer (foundation, fine-tuned, classical ML)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Training vs inference infrastructure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Serving, APIs and orchestration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MLOps / LLMOps and observability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Real-world use case.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Assignment.</a:t>
            </a:r>
            <a:endParaRPr/>
          </a:p>
        </p:txBody>
      </p:sp>
      <p:pic>
        <p:nvPicPr>
          <p:cNvPr descr="MLOps MENA logo" id="553" name="Google Shape;5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32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LLM &amp; RAG Architecture</a:t>
            </a:r>
            <a:endParaRPr/>
          </a:p>
        </p:txBody>
      </p:sp>
      <p:sp>
        <p:nvSpPr>
          <p:cNvPr id="560" name="Google Shape;560;p3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LLM selection and hosting (API vs self-hosted)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Prompting and context management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Embeddings and vector databases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RAG pipeline (chunking, retrieval, re-ranking)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Advanced patterns (hybrid search, GraphRAG)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Real-world use case.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Assignment.</a:t>
            </a:r>
            <a:endParaRPr/>
          </a:p>
        </p:txBody>
      </p:sp>
      <p:pic>
        <p:nvPicPr>
          <p:cNvPr descr="MLOps MENA logo" id="561" name="Google Shape;5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33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Agentic AI Architecture</a:t>
            </a:r>
            <a:endParaRPr/>
          </a:p>
        </p:txBody>
      </p:sp>
      <p:sp>
        <p:nvSpPr>
          <p:cNvPr id="568" name="Google Shape;568;p3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Agent fundamentals and design patterns (ReAct, planner-executor)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Tools, function calling and MCP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Memory and state management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Multi-agent orchestration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Human-in-the-loop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Guardrails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Real-world use case.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Assignment.</a:t>
            </a:r>
            <a:endParaRPr/>
          </a:p>
        </p:txBody>
      </p:sp>
      <p:pic>
        <p:nvPicPr>
          <p:cNvPr descr="MLOps MENA logo" id="569" name="Google Shape;56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4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Security, Governance, Evals</a:t>
            </a:r>
            <a:endParaRPr/>
          </a:p>
        </p:txBody>
      </p:sp>
      <p:sp>
        <p:nvSpPr>
          <p:cNvPr id="576" name="Google Shape;576;p3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AI threat modeling (prompt injection, data leakage)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Guardrails and access control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Governance, compliance and responsible AI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Evaluation methods (offline, LLM-as-judge, human)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Production monitoring and observability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Real-world use case.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Assignment.</a:t>
            </a:r>
            <a:endParaRPr/>
          </a:p>
        </p:txBody>
      </p:sp>
      <p:pic>
        <p:nvPicPr>
          <p:cNvPr descr="MLOps MENA logo" id="577" name="Google Shape;5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5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Capstone Project</a:t>
            </a:r>
            <a:endParaRPr/>
          </a:p>
        </p:txBody>
      </p:sp>
      <p:sp>
        <p:nvSpPr>
          <p:cNvPr id="584" name="Google Shape;584;p3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Applied AI in related industries (telecom, e-commerce, government, …)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Lessons learned and trade-offs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Capstone presentation and deliveries.</a:t>
            </a:r>
            <a:endParaRPr/>
          </a:p>
        </p:txBody>
      </p:sp>
      <p:pic>
        <p:nvPicPr>
          <p:cNvPr descr="MLOps MENA logo" id="585" name="Google Shape;5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6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0"/>
          <p:cNvSpPr txBox="1"/>
          <p:nvPr>
            <p:ph type="title"/>
          </p:nvPr>
        </p:nvSpPr>
        <p:spPr>
          <a:xfrm>
            <a:off x="326551" y="96329"/>
            <a:ext cx="79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W1 mini projects</a:t>
            </a:r>
            <a:endParaRPr/>
          </a:p>
        </p:txBody>
      </p:sp>
      <p:sp>
        <p:nvSpPr>
          <p:cNvPr id="592" name="Google Shape;592;p30"/>
          <p:cNvSpPr txBox="1"/>
          <p:nvPr>
            <p:ph idx="1" type="body"/>
          </p:nvPr>
        </p:nvSpPr>
        <p:spPr>
          <a:xfrm>
            <a:off x="326551" y="979619"/>
            <a:ext cx="8490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Mini project: governance pack for the Marketing Automation with AI &amp; Agents system.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Write 5 architecture principles, each linked to a business goal.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Write 3 ADRs (Architecture Decision Records), e.g. API vs self-hosted LLM, vector DB choice, real-time vs batch: options, trade-offs, decision.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Build an ARB (Architecture Review Board) checklist: security, privacy (PDPL), evals, cost, human oversight.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 one automated guardrail (CI check or agent reviewing a design against your principles) (optional).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Deliver: one wiki page and one draw.io diagram, max 2 pages.</a:t>
            </a:r>
            <a:endParaRPr/>
          </a:p>
        </p:txBody>
      </p:sp>
      <p:pic>
        <p:nvPicPr>
          <p:cNvPr descr="MLOps MENA logo" id="593" name="Google Shape;59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000" y="233352"/>
            <a:ext cx="520000" cy="2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0"/>
          <p:cNvSpPr txBox="1"/>
          <p:nvPr>
            <p:ph idx="12" type="sldNum"/>
          </p:nvPr>
        </p:nvSpPr>
        <p:spPr>
          <a:xfrm>
            <a:off x="8257000" y="476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